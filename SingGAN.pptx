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4" r:id="rId6"/>
    <p:sldId id="266" r:id="rId7"/>
    <p:sldId id="267" r:id="rId8"/>
    <p:sldId id="268" r:id="rId9"/>
    <p:sldId id="259" r:id="rId10"/>
    <p:sldId id="271" r:id="rId11"/>
    <p:sldId id="260" r:id="rId12"/>
    <p:sldId id="261" r:id="rId13"/>
    <p:sldId id="262" r:id="rId14"/>
    <p:sldId id="265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415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819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1532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86468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31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7453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27143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57562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7962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8144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37729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0610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12210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87391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514794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709708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1112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0C7CE-0001-45E0-8B1A-DAF20FCF4589}" type="datetimeFigureOut">
              <a:rPr lang="fa-IR" smtClean="0"/>
              <a:t>10/02/1447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A615C-39BD-4511-847D-45EE950E284C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70319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3B8D-AD24-1614-9253-BAD909897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19045"/>
            <a:ext cx="9144000" cy="1094626"/>
          </a:xfrm>
        </p:spPr>
        <p:txBody>
          <a:bodyPr/>
          <a:lstStyle/>
          <a:p>
            <a:pPr algn="ctr"/>
            <a:r>
              <a:rPr lang="en-US" dirty="0" err="1"/>
              <a:t>SingGAN</a:t>
            </a:r>
            <a:endParaRPr lang="fa-I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299B4-6AE5-05C8-9C29-7FD767BD89D4}"/>
              </a:ext>
            </a:extLst>
          </p:cNvPr>
          <p:cNvSpPr txBox="1"/>
          <p:nvPr/>
        </p:nvSpPr>
        <p:spPr>
          <a:xfrm>
            <a:off x="2993366" y="5357003"/>
            <a:ext cx="282083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Presented by </a:t>
            </a:r>
            <a:r>
              <a:rPr lang="en-US" dirty="0" err="1"/>
              <a:t>AghayeMikh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807460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B91E-F640-9784-0AAE-168A8052D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مشکل: تولید و بازسازی سیگنال های صوتی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6EE70-C222-9734-3AE3-1898BD840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Synthesis </a:t>
            </a:r>
            <a:r>
              <a:rPr lang="fa-IR" dirty="0"/>
              <a:t>یا تولید و بازسازی سیگنال های صوتی</a:t>
            </a:r>
            <a:r>
              <a:rPr lang="en-US" dirty="0"/>
              <a:t>, </a:t>
            </a:r>
            <a:r>
              <a:rPr lang="fa-IR" dirty="0"/>
              <a:t> نیازمند مدل هایی است که بتوانند ویژگی های پیچیده صوتی مانند ملودی </a:t>
            </a:r>
            <a:r>
              <a:rPr lang="en-US" dirty="0"/>
              <a:t>,</a:t>
            </a:r>
            <a:r>
              <a:rPr lang="fa-IR" dirty="0"/>
              <a:t> هارمونی و دینامیک های صوتی را از داده های محدود استخراج میکنند.</a:t>
            </a:r>
            <a:br>
              <a:rPr lang="fa-IR" dirty="0"/>
            </a:br>
            <a:br>
              <a:rPr lang="fa-IR" dirty="0"/>
            </a:br>
            <a:r>
              <a:rPr lang="fa-IR" dirty="0"/>
              <a:t>اهمیت مشکل:</a:t>
            </a:r>
          </a:p>
          <a:p>
            <a:r>
              <a:rPr lang="fa-IR" dirty="0">
                <a:effectLst/>
              </a:rPr>
              <a:t>امکان تولید صوت باکیفیت از یک نمونه محدود، کاربردهای گسترده‌ای در تولید موسیقی، ویرایش صوتی، و حتی بازسازی صداهای تاریخی دارد.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6114156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8AF6-C017-5605-D876-402D2698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دیتاست </a:t>
            </a:r>
            <a:r>
              <a:rPr lang="en-US" dirty="0"/>
              <a:t>M4Singer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8C73-DD1B-A4E9-6791-4BEAC8064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940" y="2249486"/>
            <a:ext cx="5319471" cy="3866641"/>
          </a:xfrm>
        </p:spPr>
        <p:txBody>
          <a:bodyPr>
            <a:normAutofit/>
          </a:bodyPr>
          <a:lstStyle/>
          <a:p>
            <a:r>
              <a:rPr lang="fa-IR" sz="2000" dirty="0">
                <a:effectLst/>
              </a:rPr>
              <a:t>شامل 700 آهنگ پاپ چینی است که توسط 20 خواننده حرفه‌ای (با پوشش هر چهار نوع صوتی سوپرانو، آلتو، تنور، و باس) ضبط شده است.</a:t>
            </a:r>
          </a:p>
          <a:p>
            <a:r>
              <a:rPr lang="fa-IR" sz="2000" dirty="0">
                <a:effectLst/>
              </a:rPr>
              <a:t>برچسب‌گذاری دقیق: هر آهنگ با نت‌های موسیقی (</a:t>
            </a:r>
            <a:r>
              <a:rPr lang="en-US" sz="2000" dirty="0">
                <a:effectLst/>
              </a:rPr>
              <a:t>musical scores) </a:t>
            </a:r>
            <a:r>
              <a:rPr lang="fa-IR" sz="2000" dirty="0">
                <a:effectLst/>
              </a:rPr>
              <a:t>به‌صورت دستی برچسب‌گذاری شده است.</a:t>
            </a:r>
          </a:p>
          <a:p>
            <a:r>
              <a:rPr lang="fa-IR" sz="2000" dirty="0">
                <a:effectLst/>
              </a:rPr>
              <a:t>نت‌های موسیقی و هم‌ترازی‌های زمانی دقیق، امکان استخراج ویژگی‌های </a:t>
            </a:r>
            <a:r>
              <a:rPr lang="en-US" sz="2000" dirty="0">
                <a:effectLst/>
              </a:rPr>
              <a:t>F0 </a:t>
            </a:r>
            <a:r>
              <a:rPr lang="fa-IR" sz="2000" dirty="0">
                <a:effectLst/>
              </a:rPr>
              <a:t>و مل‌اسپکتروگرام با کیفیت بالا را فراهم میکند.</a:t>
            </a:r>
          </a:p>
          <a:p>
            <a:endParaRPr lang="fa-IR" sz="2000" dirty="0">
              <a:effectLst/>
            </a:endParaRPr>
          </a:p>
          <a:p>
            <a:endParaRPr lang="fa-I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489668-FEC4-D2C8-8EC0-7BF3D396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12" y="2249486"/>
            <a:ext cx="4819027" cy="27107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952800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016D-2323-92AA-676F-65087194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معماری شبکه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925FCC-7DF4-3378-0E43-E1BCEE3F1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43" y="2038097"/>
            <a:ext cx="10012314" cy="278180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404349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BB87-F1FA-D10E-1FCA-3D6AF901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معماری شبکه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FF71E7-EE91-17E5-3D47-9EC11EE62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233" y="2743071"/>
            <a:ext cx="106731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مولد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(Generator):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ورودی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مل‌اسپکتروگرام 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نمایش فرکانسی-زمانی صوت)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لایه‌های اولیه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CONV1x1 upsample + CONV2D →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سیگنال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S.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بلوک‌های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AFL (2 </a:t>
            </a: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بلوک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TANH + CONV1x1،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خروجی‌ها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h0,h1 h_0, h_1 h0​,h1​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با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upsample Source + h2 h_2 h2​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جمع می‌شوند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پردازش بیشتر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2X (RELU + CONV1x1).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خروجی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موج صوتی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(waveform)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با وضوح بالا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متمایزکننده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(Discriminator):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ورودی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موج صوتی 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واقعی یا تولیدشده)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بلوک‌ها</a:t>
            </a:r>
            <a:r>
              <a:rPr kumimoji="0" lang="fa-IR" altLang="fa-I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Dilated CONV (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هسته 5، پارامترهای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μ,α,β \mu, \alpha, \beta μ,α,β) + PQMF (</a:t>
            </a:r>
            <a:r>
              <a:rPr kumimoji="0" lang="ar-SA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تجزیه به باندهای فرکانسی</a:t>
            </a:r>
            <a:r>
              <a:rPr kumimoji="0" lang="fa-IR" altLang="fa-I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altLang="fa-I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143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3798-5095-4B37-1B84-B9F925C0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Relu</a:t>
            </a:r>
            <a:r>
              <a:rPr lang="en-US" dirty="0"/>
              <a:t> , </a:t>
            </a:r>
            <a:r>
              <a:rPr lang="en-US" dirty="0" err="1"/>
              <a:t>LeakyRelu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C52E-A10A-9537-5690-2DB4458B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4" y="2249487"/>
            <a:ext cx="9905998" cy="1986084"/>
          </a:xfrm>
        </p:spPr>
        <p:txBody>
          <a:bodyPr/>
          <a:lstStyle/>
          <a:p>
            <a:pPr algn="ctr"/>
            <a:r>
              <a:rPr lang="fa-IR" dirty="0"/>
              <a:t>در شبکه‌های عصبی، توابع فعال‌سازی نقش حیاتی در معرفی </a:t>
            </a:r>
            <a:r>
              <a:rPr lang="fa-IR" b="1" dirty="0"/>
              <a:t>غیرخطی بودن </a:t>
            </a:r>
            <a:r>
              <a:rPr lang="en-US" b="1" dirty="0"/>
              <a:t>(non-linearity)</a:t>
            </a:r>
            <a:r>
              <a:rPr lang="en-US" dirty="0"/>
              <a:t> </a:t>
            </a:r>
            <a:r>
              <a:rPr lang="fa-IR" dirty="0"/>
              <a:t>به مدل ایفا می‌کنند. بدون غیرخطی بودن، شبکه تنها قادر به یادگیری روابط خطی خواهد بود که قدرت مدل‌سازی آن را به شدت محدود می‌کند. </a:t>
            </a:r>
            <a:r>
              <a:rPr lang="en-US" dirty="0" err="1"/>
              <a:t>ReLU</a:t>
            </a:r>
            <a:r>
              <a:rPr lang="en-US" dirty="0"/>
              <a:t> (Rectified Linear Unit) </a:t>
            </a:r>
            <a:r>
              <a:rPr lang="fa-IR" dirty="0"/>
              <a:t>و </a:t>
            </a:r>
            <a:r>
              <a:rPr lang="en-US" dirty="0"/>
              <a:t>Leaky </a:t>
            </a:r>
            <a:r>
              <a:rPr lang="en-US" dirty="0" err="1"/>
              <a:t>ReLU</a:t>
            </a:r>
            <a:r>
              <a:rPr lang="en-US" dirty="0"/>
              <a:t> </a:t>
            </a:r>
            <a:r>
              <a:rPr lang="fa-IR" dirty="0"/>
              <a:t>دو تابع فعال‌سازی محبوب هستند که به این منظور استفاده می‌شوند.</a:t>
            </a:r>
          </a:p>
        </p:txBody>
      </p:sp>
    </p:spTree>
    <p:extLst>
      <p:ext uri="{BB962C8B-B14F-4D97-AF65-F5344CB8AC3E}">
        <p14:creationId xmlns:p14="http://schemas.microsoft.com/office/powerpoint/2010/main" val="15143301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4A5E-1703-A1AB-68EA-81D90555E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rELU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4CE5F-0FD0-D6DB-8BBD-BCFDE6B8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745871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a-IR" sz="1800" b="1" dirty="0"/>
              <a:t>مزایا</a:t>
            </a:r>
            <a:r>
              <a:rPr lang="fa-IR" sz="1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a-IR" sz="1800" b="1" dirty="0"/>
              <a:t>سادگی و کارایی محاسباتی</a:t>
            </a:r>
            <a:r>
              <a:rPr lang="fa-IR" sz="1800" dirty="0"/>
              <a:t>: بسیار ساده و سریع برای محاسبه است، که آن را برای شبکه‌های عمیق مناسب می‌کند.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a-IR" sz="1800" b="1" dirty="0"/>
              <a:t>حل مشکل گرادیان ناپدید شونده</a:t>
            </a:r>
            <a:r>
              <a:rPr lang="en-US" sz="1800" b="1" dirty="0"/>
              <a:t>Vanishing Gradient)</a:t>
            </a:r>
            <a:r>
              <a:rPr lang="en-US" sz="1800" dirty="0"/>
              <a:t>: </a:t>
            </a:r>
            <a:r>
              <a:rPr lang="fa-IR" sz="1800" dirty="0"/>
              <a:t>) برای ورودی‌های مثبت، گرادیان همیشه ۱ است، بنابراین گرادیان‌ها ناپدید نمی‌شوند و مشکل یادگیری در لایه‌های عمیق را کاهش می‌دهد.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a-IR" sz="1800" b="1" dirty="0"/>
              <a:t>اسپارسیتی</a:t>
            </a:r>
            <a:r>
              <a:rPr lang="en-US" sz="1800" b="1" dirty="0"/>
              <a:t> (Sparsity)</a:t>
            </a:r>
            <a:r>
              <a:rPr lang="en-US" sz="1800" dirty="0"/>
              <a:t>: </a:t>
            </a:r>
            <a:r>
              <a:rPr lang="fa-IR" sz="1800" dirty="0"/>
              <a:t>با صفر کردن ورودی‌های منفی، باعث می‌شود نورون‌های کمتری فعال شوند (خروجی‌های صفر)، که می‌تواند منجر به یادگیری نمایش‌های اسپارس‌تر شود.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1800" b="1" dirty="0"/>
              <a:t>معایب</a:t>
            </a:r>
            <a:r>
              <a:rPr lang="fa-IR" sz="1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a-IR" sz="1800" b="1" dirty="0"/>
              <a:t>مشکل نورون مرده </a:t>
            </a:r>
            <a:r>
              <a:rPr lang="en-US" sz="1800" b="1" dirty="0"/>
              <a:t>Dying </a:t>
            </a:r>
            <a:r>
              <a:rPr lang="en-US" sz="1800" b="1" dirty="0" err="1"/>
              <a:t>ReLU</a:t>
            </a:r>
            <a:r>
              <a:rPr lang="en-US" sz="1800" b="1" dirty="0"/>
              <a:t>):</a:t>
            </a:r>
            <a:r>
              <a:rPr lang="fa-IR" sz="1800" dirty="0"/>
              <a:t>) اگر یک ورودی همیشه منفی باشد (مثلاً به دلیل بایاس بزرگ منفی یا نرخ یادگیری بالا)، گرادیان آن همیشه صفر خواهد بود و آن نورون هرگز به‌روز نمی‌شود. این نورون "می‌میرد" و هیچ نقشی در یادگیری ایفا نمی‌کند.</a:t>
            </a:r>
          </a:p>
          <a:p>
            <a:endParaRPr lang="fa-IR" sz="1800" dirty="0"/>
          </a:p>
        </p:txBody>
      </p:sp>
    </p:spTree>
    <p:extLst>
      <p:ext uri="{BB962C8B-B14F-4D97-AF65-F5344CB8AC3E}">
        <p14:creationId xmlns:p14="http://schemas.microsoft.com/office/powerpoint/2010/main" val="38646949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2EA8-9A26-2154-678F-4885F770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LeakyRelu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8DB34-4A80-11FD-CE6A-96E55A11B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fa-IR" dirty="0"/>
              <a:t>به ورودی‌های منفی اجازه می‌دهد یک شیب کوچک و غیرصفر داشته باشند، به جای اینکه کاملاً صفر شوند.</a:t>
            </a:r>
            <a:endParaRPr lang="en-US" dirty="0"/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مزایا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حل مشکل نورون مرده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با داشتن یک شیب کوچک برای ورودی‌های منفی،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Leaky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ReLU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تضمین می‌کند که گرادیان‌ها هرگز کاملاً صفر نمی‌شوند، حتی برای نورون‌های غیرفعال. این امر از "مردن" نورون‌ها جلوگیری می‌کند و به آن‌ها اجازه می‌دهد به یادگیری ادامه دهند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a-I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حفظ اطلاعات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به دلیل عدم صفر کردن کامل، اطلاعات مربوط به ورودی‌های منفی نیز حفظ می‌شوند، که می‌تواند به بهبود عملکرد مدل کمک کند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a-I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معایب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ممکن است همیشه عملکرد بهتری نسبت به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ReLU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نداشته باشد و انتخاب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α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می‌تواند حساس باشد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51661115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BF27-ABED-8944-EE44-738DBE3D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مفهوم </a:t>
            </a:r>
            <a:r>
              <a:rPr lang="en-US" dirty="0"/>
              <a:t>STFT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E5ECA-8A4A-082D-A0D3-BF13BD12F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a-IR" sz="2000" dirty="0">
                <a:effectLst/>
              </a:rPr>
              <a:t>یک روش تحلیل سیگنال است که سیگنال صوتی را به قطعات کوتاه زمانی تقسیم می‌کند و تبدیل فوریه را روی هر قطعه اعمال می‌کند تا نمایش فرکانسی-زمانی سیگنال به دست آید.</a:t>
            </a:r>
          </a:p>
          <a:p>
            <a:r>
              <a:rPr lang="fa-IR" sz="1600" b="1" dirty="0">
                <a:effectLst/>
              </a:rPr>
              <a:t>کاربرد در </a:t>
            </a:r>
            <a:r>
              <a:rPr lang="en-US" sz="1600" b="1" dirty="0" err="1">
                <a:effectLst/>
              </a:rPr>
              <a:t>SingGAN</a:t>
            </a:r>
            <a:r>
              <a:rPr lang="en-US" sz="1600" dirty="0">
                <a:effectLst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1600" b="1" dirty="0"/>
              <a:t>استخراج ویژگی‌های طیفی</a:t>
            </a:r>
            <a:r>
              <a:rPr lang="fa-IR" sz="1600" dirty="0"/>
              <a:t>: </a:t>
            </a:r>
            <a:r>
              <a:rPr lang="en-US" sz="1600" dirty="0"/>
              <a:t>STFT </a:t>
            </a:r>
            <a:r>
              <a:rPr lang="fa-IR" sz="1600" dirty="0"/>
              <a:t>برای محاسبه مل‌اسپکتروگرام (در پیش‌پردازش) و زیان‌های کمکی </a:t>
            </a:r>
            <a:r>
              <a:rPr lang="en-US" sz="1600" dirty="0"/>
              <a:t>auxiliary loss) </a:t>
            </a:r>
            <a:r>
              <a:rPr lang="fa-IR" sz="1600" dirty="0"/>
              <a:t>) استفاده می‌شود. مل‌اسپکتروگرام از دامنه‌های </a:t>
            </a:r>
            <a:r>
              <a:rPr lang="en-US" sz="1600" dirty="0"/>
              <a:t>STFT </a:t>
            </a:r>
            <a:r>
              <a:rPr lang="fa-IR" sz="1600" dirty="0"/>
              <a:t>به دست می‌آید و برای مدل‌سازی محتوای فرکانسی صوت حیاتی است.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1600" b="1" dirty="0"/>
              <a:t>زیان چندمقیاسی</a:t>
            </a:r>
            <a:r>
              <a:rPr lang="fa-IR" sz="1600" dirty="0"/>
              <a:t>: در </a:t>
            </a:r>
            <a:r>
              <a:rPr lang="en-US" sz="1600" dirty="0" err="1"/>
              <a:t>SingGAN</a:t>
            </a:r>
            <a:r>
              <a:rPr lang="en-US" sz="1600" dirty="0"/>
              <a:t>، STFT </a:t>
            </a:r>
            <a:r>
              <a:rPr lang="fa-IR" sz="1600" dirty="0"/>
              <a:t> چندمقیاسی (با اندازه‌های مختلف پنجره) برای محاسبه زیان طیفی و لگاریتمی استفاده می‌شود تا شباهت بین صوت واقعی و تولیدشده را تضمین کند</a:t>
            </a:r>
          </a:p>
          <a:p>
            <a:r>
              <a:rPr lang="fa-IR" sz="1600" b="1" dirty="0">
                <a:effectLst/>
              </a:rPr>
              <a:t>چرا </a:t>
            </a:r>
            <a:r>
              <a:rPr lang="en-US" sz="1600" b="1" dirty="0">
                <a:effectLst/>
              </a:rPr>
              <a:t>STFT؟</a:t>
            </a:r>
            <a:r>
              <a:rPr lang="en-US" sz="1600" dirty="0">
                <a:effectLst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1600" dirty="0"/>
              <a:t>ویژگی‌ها در طول زمان تغییر می‌کنند</a:t>
            </a:r>
            <a:r>
              <a:rPr lang="en-US" sz="1600" dirty="0"/>
              <a:t>STFT </a:t>
            </a:r>
            <a:r>
              <a:rPr lang="fa-IR" sz="1600" dirty="0"/>
              <a:t> با تقسیم سیگنال به فریم‌های کوتاه، تغییرات زمانی را مدل‌سازی می‌کند.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1600" dirty="0"/>
              <a:t>ملودی، هارمونی، و دینامیک‌ها را به‌خوبی نشان می‌دهد.</a:t>
            </a:r>
          </a:p>
          <a:p>
            <a:pPr>
              <a:buFont typeface="Arial" panose="020B0604020202020204" pitchFamily="34" charset="0"/>
              <a:buChar char="•"/>
            </a:pPr>
            <a:endParaRPr lang="fa-IR" sz="1600" dirty="0"/>
          </a:p>
          <a:p>
            <a:endParaRPr lang="fa-IR" sz="2000" dirty="0"/>
          </a:p>
        </p:txBody>
      </p:sp>
    </p:spTree>
    <p:extLst>
      <p:ext uri="{BB962C8B-B14F-4D97-AF65-F5344CB8AC3E}">
        <p14:creationId xmlns:p14="http://schemas.microsoft.com/office/powerpoint/2010/main" val="5537229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7E46-5925-E1E1-204F-39BB403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LOSS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E9CAA-D0F7-3DF2-BD1E-D5B5D7435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513084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</a:endParaRP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زیان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STFT (Short-Time Fourier Transform)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زیان تفاوت بین طیف‌های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STFT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(تبدیل فوریه زمان کوتاه) صدای واقعی و تولید شده را اندازه‌گیری می‌کند. این شامل دو جزء است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143000" marR="0" lvl="2" indent="-2286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همگرایی طیفی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(Spectral Convergence)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میزان شباهت شکل طیف‌ها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0" marR="0" lvl="2" indent="-2286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زیان لگاریتمی مگنیتیود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(Log Magnitude Loss)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تفاوت در اندازه طیف‌ها در مقیاس لگاریتمی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a-I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143000" marR="0" lvl="2" indent="-2286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multi_resolution_stft_loss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y_true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y_pred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زیان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STFT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را در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چندین رزولوشن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(N_FFT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،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HOP_LENGTH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،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WIN_LENGTH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مختلف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محاسبه و میانگین می‌گیرد. این تضمین می‌کند که مدل می‌تواند طیف‌های با کیفیتی را در بازه‌های فرکانسی و زمانی مختلف تولید کند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fa-I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mel_loss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y_true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y_pred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...)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مشابه زیان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STFT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، اما روی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اسپکتروگرام‌های مل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اعمال می‌شود. از آنجا که اسپکتروگرام‌های مل با نحوه شنیدن انسان همسو هستند، این زیان به کیفیت درک‌شده صدا کمک می‌کند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multi_resolution_mel_loss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y_true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y_pred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زیان مل را در چندین رزولوشن محاسبه می‌کند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fa-I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auxiliary_loss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y_true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y_pred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زیان کمکی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ترکیبی از زیان‌های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multi-resolution Mel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و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STFT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است. این یک زیان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ادراکی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(perceptual loss)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است که ژنراتور را به تولید صدای با کیفیت بالا و نزدیک به واقعیت سوق می‌دهد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feature_matching_loss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discriminator_real_features_list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discriminator_fake_features_list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زیان تطابق ویژگی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زیان،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فاصله مطلق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(L1-distance)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بین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ویژگی‌های میانی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(خروجی‌های لایه‌های میانی) دیسکریمنتور برای داده‌های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واقعی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و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جعلی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را محاسبه می‌کند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زیان برای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پایداری آموزش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GAN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بسیار حیاتی است و به ژنراتور کمک می‌کند تا خروجی‌های متنوع‌تر و با کیفیت‌تری تولید کند و از مشکل "فروپاشی حالت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(mode collapse)" 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جلوگیری می‌کند. این زیان عمدتاً روی ویژگی‌های استخراج‌شده از </a:t>
            </a:r>
            <a:r>
              <a:rPr lang="fa-I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شاخه‌های محلی دیسکریمنتور</a:t>
            </a:r>
            <a:r>
              <a:rPr lang="fa-I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اعمال می‌شود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114421816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D927-CA16-4800-683B-4B452D95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مفاهیم کلیدی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82E36-8C68-1AC4-18FF-5E9B58AF2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b="1" dirty="0" err="1"/>
              <a:t>N_Mels</a:t>
            </a:r>
            <a:r>
              <a:rPr lang="fa-IR" sz="1600" dirty="0"/>
              <a:t>: تعداد باند های مل نشان دهنده تعداد فیلتر های فرکانسی در مل اسپکتوگرام است</a:t>
            </a:r>
          </a:p>
          <a:p>
            <a:r>
              <a:rPr lang="fa-IR" sz="1600" dirty="0"/>
              <a:t>مل اسپکتوگرام: نمایشی از صوت است که فرکانس ها بر اساس شنوایی انسان فشرده میکند</a:t>
            </a:r>
          </a:p>
          <a:p>
            <a:r>
              <a:rPr lang="en-US" sz="1600" b="1" dirty="0"/>
              <a:t>F0</a:t>
            </a:r>
            <a:r>
              <a:rPr lang="fa-IR" sz="1600" dirty="0"/>
              <a:t>: </a:t>
            </a:r>
            <a:r>
              <a:rPr lang="fa-IR" sz="1600" dirty="0">
                <a:effectLst/>
              </a:rPr>
              <a:t>یا فرکانس بنیادی</a:t>
            </a:r>
            <a:r>
              <a:rPr lang="en-US" sz="1600" dirty="0">
                <a:effectLst/>
              </a:rPr>
              <a:t> (fundamental frequency) </a:t>
            </a:r>
            <a:r>
              <a:rPr lang="fa-IR" sz="1600" dirty="0">
                <a:effectLst/>
              </a:rPr>
              <a:t>پایین‌ترین فرکانس دوره‌ای در یک سیگنال صوتی است که به ملودی و زیروبمی </a:t>
            </a:r>
            <a:r>
              <a:rPr lang="en-US" sz="1600" dirty="0">
                <a:effectLst/>
              </a:rPr>
              <a:t>pitch)</a:t>
            </a:r>
            <a:r>
              <a:rPr lang="fa-IR" sz="1600" dirty="0">
                <a:effectLst/>
              </a:rPr>
              <a:t>) صدا مربوط می‌شود.</a:t>
            </a:r>
          </a:p>
          <a:p>
            <a:r>
              <a:rPr lang="fa-IR" sz="1600" dirty="0">
                <a:effectLst/>
              </a:rPr>
              <a:t> در آواز،</a:t>
            </a:r>
            <a:r>
              <a:rPr lang="en-US" sz="1600" dirty="0">
                <a:effectLst/>
              </a:rPr>
              <a:t> F0 </a:t>
            </a:r>
            <a:r>
              <a:rPr lang="fa-IR" sz="1600" dirty="0">
                <a:effectLst/>
              </a:rPr>
              <a:t>نشان‌دهنده فرکانس ارتعاش تارهای صوتی است.</a:t>
            </a:r>
          </a:p>
          <a:p>
            <a:r>
              <a:rPr lang="fa-IR" sz="1600" b="1" dirty="0"/>
              <a:t>نقش در </a:t>
            </a:r>
            <a:r>
              <a:rPr lang="en-US" sz="1600" b="1" dirty="0" err="1"/>
              <a:t>SingGAN</a:t>
            </a: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a-IR" sz="1600" b="1" dirty="0"/>
              <a:t>کاربرد</a:t>
            </a:r>
            <a:r>
              <a:rPr lang="fa-IR" sz="1600" dirty="0"/>
              <a:t>: </a:t>
            </a:r>
            <a:r>
              <a:rPr lang="en-US" sz="1600" dirty="0"/>
              <a:t> F0 </a:t>
            </a:r>
            <a:r>
              <a:rPr lang="fa-IR" sz="1600" dirty="0"/>
              <a:t>برای مدل‌سازی ملودی و ویژگی‌های خواننده (مانند جنسیت یا سبک) استفاده می‌شود.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FFT</a:t>
            </a:r>
            <a:r>
              <a:rPr lang="fa-IR" sz="1600" dirty="0"/>
              <a:t> : تبدیل فوریه سریع الگوریتمی برای تبدیل سیگنال از حوزه زمان به حوزه فرکانس است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1600" dirty="0"/>
              <a:t>کاربرد: پایه محاسباتی برای تولید مل اسپکتوگرام و محاسبه زیان های چند مقیاسی</a:t>
            </a:r>
          </a:p>
          <a:p>
            <a:endParaRPr lang="fa-IR" sz="1600" dirty="0"/>
          </a:p>
        </p:txBody>
      </p:sp>
    </p:spTree>
    <p:extLst>
      <p:ext uri="{BB962C8B-B14F-4D97-AF65-F5344CB8AC3E}">
        <p14:creationId xmlns:p14="http://schemas.microsoft.com/office/powerpoint/2010/main" val="750507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5E88-5B3D-450B-4832-4D5700C6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الگوریتم </a:t>
            </a:r>
            <a:r>
              <a:rPr lang="en-US" dirty="0"/>
              <a:t> Harvest </a:t>
            </a:r>
            <a:r>
              <a:rPr lang="fa-IR" dirty="0"/>
              <a:t>و </a:t>
            </a:r>
            <a:r>
              <a:rPr lang="en-US" dirty="0" err="1"/>
              <a:t>Stonemask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99732-5FCC-C422-6724-3AF89A441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606" y="2249486"/>
            <a:ext cx="4318805" cy="3556091"/>
          </a:xfrm>
        </p:spPr>
        <p:txBody>
          <a:bodyPr/>
          <a:lstStyle/>
          <a:p>
            <a:r>
              <a:rPr lang="en-US" sz="1800" dirty="0">
                <a:effectLst/>
              </a:rPr>
              <a:t>harvest </a:t>
            </a:r>
            <a:r>
              <a:rPr lang="fa-IR" sz="1800" dirty="0">
                <a:effectLst/>
              </a:rPr>
              <a:t> یک الگوریتم در کتابخانه </a:t>
            </a:r>
            <a:r>
              <a:rPr lang="en-US" sz="1800" dirty="0">
                <a:effectLst/>
              </a:rPr>
              <a:t>      </a:t>
            </a:r>
            <a:r>
              <a:rPr lang="en-US" sz="1800" dirty="0" err="1">
                <a:effectLst/>
              </a:rPr>
              <a:t>pyworld</a:t>
            </a:r>
            <a:r>
              <a:rPr lang="en-US" sz="1800" dirty="0">
                <a:effectLst/>
              </a:rPr>
              <a:t> </a:t>
            </a:r>
            <a:r>
              <a:rPr lang="fa-IR" sz="1800" dirty="0">
                <a:effectLst/>
              </a:rPr>
              <a:t>است که برای استخراج فرکانس بنیادی </a:t>
            </a:r>
            <a:r>
              <a:rPr lang="en-US" sz="1800" dirty="0">
                <a:effectLst/>
              </a:rPr>
              <a:t>F0) </a:t>
            </a:r>
            <a:r>
              <a:rPr lang="fa-IR" sz="1800" dirty="0">
                <a:effectLst/>
              </a:rPr>
              <a:t>)از سیگنال صوتی استفاده می‌شود. این الگوریتم با تحلیل دوره‌ای بودن سیگنال، </a:t>
            </a:r>
            <a:r>
              <a:rPr lang="en-US" sz="1800" dirty="0">
                <a:effectLst/>
              </a:rPr>
              <a:t> F0 </a:t>
            </a:r>
            <a:r>
              <a:rPr lang="fa-IR" sz="1800" dirty="0">
                <a:effectLst/>
              </a:rPr>
              <a:t>را در هر فریم محاسبه می‌کند.</a:t>
            </a:r>
          </a:p>
          <a:p>
            <a:r>
              <a:rPr lang="fa-IR" sz="1600" b="1" dirty="0"/>
              <a:t>نقش در </a:t>
            </a:r>
            <a:r>
              <a:rPr lang="en-US" sz="1600" b="1" dirty="0" err="1"/>
              <a:t>SingGAN</a:t>
            </a: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a-IR" sz="1400" b="1" dirty="0"/>
              <a:t>کاربرد</a:t>
            </a:r>
            <a:r>
              <a:rPr lang="fa-IR" sz="1400" dirty="0"/>
              <a:t>: استخراج اولیه </a:t>
            </a:r>
            <a:r>
              <a:rPr lang="en-US" sz="1400" dirty="0"/>
              <a:t>F0 </a:t>
            </a:r>
            <a:r>
              <a:rPr lang="fa-IR" sz="1400" dirty="0"/>
              <a:t>برای مدل‌سازی ملودی و ورودی </a:t>
            </a:r>
            <a:r>
              <a:rPr lang="en-US" sz="1400" dirty="0" err="1"/>
              <a:t>SourceExcitationLayer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1400" b="1" dirty="0"/>
              <a:t>ارتباط با </a:t>
            </a:r>
            <a:r>
              <a:rPr lang="en-US" sz="1400" b="1" dirty="0"/>
              <a:t>M4Singer</a:t>
            </a:r>
            <a:r>
              <a:rPr lang="fa-IR" sz="1400" b="1" dirty="0"/>
              <a:t>: </a:t>
            </a:r>
            <a:r>
              <a:rPr lang="fa-IR" sz="1400" dirty="0"/>
              <a:t>ضبط‌های استودیویی </a:t>
            </a:r>
            <a:r>
              <a:rPr lang="en-US" sz="1400" dirty="0"/>
              <a:t>M4Singer </a:t>
            </a:r>
            <a:r>
              <a:rPr lang="fa-IR" sz="1400" dirty="0"/>
              <a:t>با نویز کم، دقت </a:t>
            </a:r>
            <a:r>
              <a:rPr lang="en-US" sz="1400" dirty="0"/>
              <a:t>harvest </a:t>
            </a:r>
            <a:r>
              <a:rPr lang="fa-IR" sz="1400" dirty="0"/>
              <a:t>را افزایش می‌دهند.</a:t>
            </a:r>
          </a:p>
          <a:p>
            <a:endParaRPr lang="fa-IR" sz="1800" dirty="0">
              <a:effectLst/>
            </a:endParaRPr>
          </a:p>
          <a:p>
            <a:endParaRPr lang="fa-I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11CEB-F586-CBAE-A308-69B21BF0B585}"/>
              </a:ext>
            </a:extLst>
          </p:cNvPr>
          <p:cNvSpPr txBox="1"/>
          <p:nvPr/>
        </p:nvSpPr>
        <p:spPr>
          <a:xfrm>
            <a:off x="1604513" y="2249486"/>
            <a:ext cx="3858883" cy="30777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stonemask</a:t>
            </a:r>
            <a:r>
              <a:rPr lang="en-US" dirty="0">
                <a:effectLst/>
              </a:rPr>
              <a:t> </a:t>
            </a:r>
            <a:r>
              <a:rPr lang="fa-IR" dirty="0">
                <a:effectLst/>
              </a:rPr>
              <a:t>یک الگوریتم پالایش در 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pyworld</a:t>
            </a:r>
            <a:r>
              <a:rPr lang="en-US" dirty="0">
                <a:effectLst/>
              </a:rPr>
              <a:t> </a:t>
            </a:r>
            <a:r>
              <a:rPr lang="fa-IR" dirty="0">
                <a:effectLst/>
              </a:rPr>
              <a:t>است که </a:t>
            </a:r>
            <a:r>
              <a:rPr lang="en-US" dirty="0">
                <a:effectLst/>
              </a:rPr>
              <a:t>F0 </a:t>
            </a:r>
            <a:r>
              <a:rPr lang="fa-IR" dirty="0">
                <a:effectLst/>
              </a:rPr>
              <a:t> استخراج‌شده توسط </a:t>
            </a:r>
            <a:r>
              <a:rPr lang="en-US" dirty="0">
                <a:effectLst/>
              </a:rPr>
              <a:t>harvest </a:t>
            </a:r>
            <a:r>
              <a:rPr lang="fa-IR" dirty="0">
                <a:effectLst/>
              </a:rPr>
              <a:t> را بهبود می‌دهد. این الگوریتم مناطق </a:t>
            </a:r>
            <a:r>
              <a:rPr lang="en-US" dirty="0">
                <a:effectLst/>
              </a:rPr>
              <a:t>voiced </a:t>
            </a:r>
            <a:r>
              <a:rPr lang="fa-IR" dirty="0">
                <a:effectLst/>
              </a:rPr>
              <a:t> و</a:t>
            </a:r>
            <a:r>
              <a:rPr lang="en-US" dirty="0">
                <a:effectLst/>
              </a:rPr>
              <a:t>unvoiced </a:t>
            </a:r>
            <a:r>
              <a:rPr lang="fa-IR" dirty="0">
                <a:effectLst/>
              </a:rPr>
              <a:t> را دقیق‌تر شناسایی کرده و نویز را کاهش می‌دهد.</a:t>
            </a:r>
          </a:p>
          <a:p>
            <a:pPr algn="r" rtl="1"/>
            <a:endParaRPr lang="fa-IR" dirty="0">
              <a:effectLst/>
            </a:endParaRPr>
          </a:p>
          <a:p>
            <a:pPr algn="r" rtl="1"/>
            <a:r>
              <a:rPr lang="fa-IR" sz="1600" b="1" dirty="0"/>
              <a:t>نقش در </a:t>
            </a:r>
            <a:r>
              <a:rPr lang="en-US" sz="1600" b="1" dirty="0" err="1"/>
              <a:t>SingGAN</a:t>
            </a:r>
            <a:endParaRPr lang="en-US" sz="1600" b="1" dirty="0"/>
          </a:p>
          <a:p>
            <a:pPr algn="r" rtl="1"/>
            <a:endParaRPr lang="en-US" sz="1400" b="1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/>
              <a:t>کاربرد</a:t>
            </a:r>
            <a:r>
              <a:rPr lang="fa-IR" sz="1400" dirty="0"/>
              <a:t>: پالایش </a:t>
            </a:r>
            <a:r>
              <a:rPr lang="en-US" sz="1400" dirty="0"/>
              <a:t>F0 </a:t>
            </a:r>
            <a:r>
              <a:rPr lang="fa-IR" sz="1400" dirty="0"/>
              <a:t>برای افزایش دقت در ورودی مولد.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fa-IR" sz="14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/>
              <a:t>ارتباط با </a:t>
            </a:r>
            <a:r>
              <a:rPr lang="en-US" sz="1400" b="1" dirty="0"/>
              <a:t>M4Singer</a:t>
            </a:r>
            <a:r>
              <a:rPr lang="fa-IR" sz="1400" b="1" dirty="0"/>
              <a:t>: </a:t>
            </a:r>
            <a:r>
              <a:rPr lang="fa-IR" sz="1400" dirty="0"/>
              <a:t>برچسب‌گذاری نت‌ها در </a:t>
            </a:r>
            <a:r>
              <a:rPr lang="en-US" sz="1400" dirty="0"/>
              <a:t>M4Singer </a:t>
            </a:r>
            <a:r>
              <a:rPr lang="fa-IR" sz="1400" dirty="0"/>
              <a:t>به شناسایی دقیق مناطق </a:t>
            </a:r>
            <a:r>
              <a:rPr lang="en-US" sz="1400" dirty="0"/>
              <a:t>voiced/unvoiced </a:t>
            </a:r>
            <a:r>
              <a:rPr lang="fa-IR" sz="1400" dirty="0"/>
              <a:t>کمک می‌کند.</a:t>
            </a:r>
          </a:p>
        </p:txBody>
      </p:sp>
    </p:spTree>
    <p:extLst>
      <p:ext uri="{BB962C8B-B14F-4D97-AF65-F5344CB8AC3E}">
        <p14:creationId xmlns:p14="http://schemas.microsoft.com/office/powerpoint/2010/main" val="3587075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C57F-6594-6EE5-2A63-EB87D5DF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Dilation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88D8C-4D98-5978-2F15-B41E78867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effectLst/>
              </a:rPr>
              <a:t> dilation</a:t>
            </a:r>
            <a:r>
              <a:rPr lang="fa-IR" sz="2000" dirty="0">
                <a:effectLst/>
              </a:rPr>
              <a:t>در شبکه‌های کانولوشنی به فاصله بین عناصر کرنل در عملیات کانولوشن اشاره دارد. در </a:t>
            </a:r>
            <a:r>
              <a:rPr lang="en-US" sz="2000" dirty="0">
                <a:effectLst/>
              </a:rPr>
              <a:t>dilated convolution، </a:t>
            </a:r>
            <a:r>
              <a:rPr lang="fa-IR" sz="2000" dirty="0">
                <a:effectLst/>
              </a:rPr>
              <a:t>کرنل با فاصله‌های مشخص</a:t>
            </a:r>
            <a:r>
              <a:rPr lang="en-US" sz="2000" dirty="0">
                <a:effectLst/>
              </a:rPr>
              <a:t>dilation rate) </a:t>
            </a:r>
            <a:r>
              <a:rPr lang="fa-IR" sz="2000" dirty="0">
                <a:effectLst/>
              </a:rPr>
              <a:t>) اعمال می‌شود تا میدان گیرندگی</a:t>
            </a:r>
            <a:r>
              <a:rPr lang="en-US" sz="2000" dirty="0">
                <a:effectLst/>
              </a:rPr>
              <a:t>(receptive field) </a:t>
            </a:r>
            <a:r>
              <a:rPr lang="fa-IR" sz="2000" dirty="0">
                <a:effectLst/>
              </a:rPr>
              <a:t>افزایش یابد بدون افزایش تعداد پارامترها.</a:t>
            </a:r>
          </a:p>
          <a:p>
            <a:r>
              <a:rPr lang="fa-IR" sz="2000" b="1" dirty="0"/>
              <a:t>نقش در </a:t>
            </a:r>
            <a:r>
              <a:rPr lang="en-US" sz="2000" b="1" dirty="0" err="1"/>
              <a:t>SingGAN</a:t>
            </a: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a-IR" sz="2000" b="1" dirty="0"/>
              <a:t>کاربرد</a:t>
            </a:r>
            <a:r>
              <a:rPr lang="fa-IR" sz="2000" dirty="0"/>
              <a:t>: در بلوک‌های </a:t>
            </a:r>
            <a:r>
              <a:rPr lang="en-US" sz="2000" dirty="0"/>
              <a:t>AFL</a:t>
            </a:r>
            <a:r>
              <a:rPr lang="fa-IR" sz="2000" dirty="0"/>
              <a:t> مولد و متمایزکننده برای یادگیری الگوهای زمانی طولانی‌تر در صوت (مانند ملودی و ریتم).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sz="2000" b="1" dirty="0"/>
              <a:t>ارتباط با </a:t>
            </a:r>
            <a:r>
              <a:rPr lang="en-US" sz="2000" b="1" dirty="0"/>
              <a:t> :M4Singer</a:t>
            </a:r>
            <a:r>
              <a:rPr lang="fa-IR" sz="2000" dirty="0"/>
              <a:t>تنوع زمانی در آوازهای </a:t>
            </a:r>
            <a:r>
              <a:rPr lang="en-US" sz="2000" dirty="0"/>
              <a:t>M4Singer </a:t>
            </a:r>
            <a:r>
              <a:rPr lang="fa-IR" sz="2000" dirty="0"/>
              <a:t>نیازمند میدان گیرندگی وسیع است.</a:t>
            </a:r>
          </a:p>
          <a:p>
            <a:endParaRPr lang="fa-IR" sz="2000" dirty="0"/>
          </a:p>
        </p:txBody>
      </p:sp>
    </p:spTree>
    <p:extLst>
      <p:ext uri="{BB962C8B-B14F-4D97-AF65-F5344CB8AC3E}">
        <p14:creationId xmlns:p14="http://schemas.microsoft.com/office/powerpoint/2010/main" val="2127602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BAB6-BBFE-8F32-D534-0BDE6C97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AFL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3A29-CD8A-FDBD-BE50-9809921F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777" y="2249486"/>
            <a:ext cx="4784634" cy="3989995"/>
          </a:xfrm>
        </p:spPr>
        <p:txBody>
          <a:bodyPr>
            <a:normAutofit lnSpcReduction="10000"/>
          </a:bodyPr>
          <a:lstStyle/>
          <a:p>
            <a:pPr marL="0" marR="0" indent="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بلوک، بخش اصلی معماری ژنراتور است و از </a:t>
            </a: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کانولوشن‌های دایلید شده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(Dilated Convolutions)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و واحدهای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GatedActivationUnit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تشکیل شده است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کانولوشن دایلید شده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به مدل اجازه می‌دهد تا بدون افزایش پارامترها، </a:t>
            </a: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میدان دید بزرگ‌تری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را در ورودی (یعنی وابستگی‌های بلندمدت در سیگنال صوتی) ببیند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a-I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بلوک شامل </a:t>
            </a: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اتصالات باقی‌مانده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(Residual Connections)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و </a:t>
            </a: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اتصالات میانبر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(Skip Connections)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است که به حفظ اطلاعات و جلوگیری از مشکل گرادیان ناپدید شونده در شبکه‌های عمیق کمک می‌کنند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652054-9CF6-1A42-2B51-CBFCA653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69" y="2384326"/>
            <a:ext cx="5326132" cy="26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08114"/>
      </p:ext>
    </p:extLst>
  </p:cSld>
  <p:clrMapOvr>
    <a:masterClrMapping/>
  </p:clrMapOvr>
  <p:transition spd="slow">
    <p:wheel spokes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17A5-DDB1-9480-CFE5-7E399FDD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PQMF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B90D9-B2CA-12D4-0A9E-EE9B4E90D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3814" y="2249486"/>
            <a:ext cx="4383597" cy="3814883"/>
          </a:xfrm>
        </p:spPr>
        <p:txBody>
          <a:bodyPr/>
          <a:lstStyle/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لایه سفارشی،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waveform </a:t>
            </a: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ورودی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(چه واقعی و چه تولید شده) را به </a:t>
            </a:r>
            <a:r>
              <a:rPr lang="fa-I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چندین باند فرکانسی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(Sub-bands)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تقسیم می‌کند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کار به دیسکریمنتور اجازه می‌دهد تا کیفیت صدا را هم در کل طیف فرکانسی و هم در جزئیات فرکانسی خاص ارزیابی کند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algn="r" rt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fa-I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این لایه از فیلترهای مدوله‌شده برای ایجاد باندها استفاده می‌کند و هر باند را ساب‌سمپل (کاهش نرخ نمونه‌برداری) می‌کند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5ECC-B0D9-B88C-C6F1-595D4BD8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08" y="2097088"/>
            <a:ext cx="4593192" cy="353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47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7703D2-7CF8-532F-26AD-F291569E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5307829"/>
          </a:xfrm>
        </p:spPr>
        <p:txBody>
          <a:bodyPr/>
          <a:lstStyle/>
          <a:p>
            <a:pPr algn="ctr"/>
            <a:r>
              <a:rPr lang="fa-IR" dirty="0"/>
              <a:t>ممنون که وقت گذاشتید</a:t>
            </a:r>
          </a:p>
        </p:txBody>
      </p:sp>
    </p:spTree>
    <p:extLst>
      <p:ext uri="{BB962C8B-B14F-4D97-AF65-F5344CB8AC3E}">
        <p14:creationId xmlns:p14="http://schemas.microsoft.com/office/powerpoint/2010/main" val="3901424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130</TotalTime>
  <Words>1613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B Nazanin</vt:lpstr>
      <vt:lpstr>Courier New</vt:lpstr>
      <vt:lpstr>Symbol</vt:lpstr>
      <vt:lpstr>Tw Cen MT</vt:lpstr>
      <vt:lpstr>Wingdings</vt:lpstr>
      <vt:lpstr>Circuit</vt:lpstr>
      <vt:lpstr>SingGAN</vt:lpstr>
      <vt:lpstr>مشکل: تولید و بازسازی سیگنال های صوتی</vt:lpstr>
      <vt:lpstr>دیتاست M4Singer</vt:lpstr>
      <vt:lpstr>معماری شبکه</vt:lpstr>
      <vt:lpstr>معماری شبکه</vt:lpstr>
      <vt:lpstr>Relu , LeakyRelu</vt:lpstr>
      <vt:lpstr>rELU</vt:lpstr>
      <vt:lpstr>LeakyRelu</vt:lpstr>
      <vt:lpstr>مفهوم STFT</vt:lpstr>
      <vt:lpstr>LOSS</vt:lpstr>
      <vt:lpstr>مفاهیم کلیدی</vt:lpstr>
      <vt:lpstr>الگوریتم  Harvest و Stonemask</vt:lpstr>
      <vt:lpstr>Dilation</vt:lpstr>
      <vt:lpstr>AFL</vt:lpstr>
      <vt:lpstr>PQMF</vt:lpstr>
      <vt:lpstr>ممنون که وقت گذاشتید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Aghaye Mikh</dc:creator>
  <cp:lastModifiedBy>Aghaye Mikh</cp:lastModifiedBy>
  <cp:revision>4</cp:revision>
  <dcterms:created xsi:type="dcterms:W3CDTF">2025-08-04T05:04:07Z</dcterms:created>
  <dcterms:modified xsi:type="dcterms:W3CDTF">2025-08-04T07:15:05Z</dcterms:modified>
</cp:coreProperties>
</file>